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c700422cb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c700422cb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bb903d57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bb903d57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c4ff51f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7c4ff51f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7c01cd349a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7c01cd349a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6056008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6056008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01cd349a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c01cd349a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c6056008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c6056008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c6056008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c6056008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c6056008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c6056008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c6056008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c6056008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c6056008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c6056008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c01cd34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c01cd34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83F04"/>
              </a:buClr>
              <a:buSzPts val="1100"/>
              <a:buChar char="●"/>
            </a:pPr>
            <a:r>
              <a:rPr b="1" lang="zh-TW">
                <a:solidFill>
                  <a:srgbClr val="783F04"/>
                </a:solidFill>
              </a:rPr>
              <a:t>Comparing the readings with each other</a:t>
            </a:r>
            <a:endParaRPr b="1">
              <a:solidFill>
                <a:srgbClr val="783F04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Drucker (2021) provides practical questions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Compare data models from MELP and the VOC-Opvarenden enhancement project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783F04"/>
              </a:buClr>
              <a:buSzPts val="1100"/>
              <a:buChar char="●"/>
            </a:pPr>
            <a:r>
              <a:rPr b="1" lang="zh-TW">
                <a:solidFill>
                  <a:srgbClr val="783F04"/>
                </a:solidFill>
              </a:rPr>
              <a:t>Similarities &amp; Differences</a:t>
            </a:r>
            <a:endParaRPr b="1">
              <a:solidFill>
                <a:srgbClr val="783F04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Digitizing historical artefacts: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zh-TW">
                <a:solidFill>
                  <a:schemeClr val="dk1"/>
                </a:solidFill>
              </a:rPr>
              <a:t>Edgeworth: 1768-1859, muster records: 1633-1794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Struggles in completeness: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zh-TW">
                <a:solidFill>
                  <a:schemeClr val="dk1"/>
                </a:solidFill>
              </a:rPr>
              <a:t>MELP &gt; VOC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Transparency: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zh-TW">
                <a:solidFill>
                  <a:schemeClr val="dk1"/>
                </a:solidFill>
              </a:rPr>
              <a:t>MELP &gt; VOC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c01cd349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c01cd349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83F04"/>
              </a:buClr>
              <a:buSzPts val="1100"/>
              <a:buChar char="●"/>
            </a:pPr>
            <a:r>
              <a:rPr b="1" lang="zh-TW">
                <a:solidFill>
                  <a:srgbClr val="783F04"/>
                </a:solidFill>
              </a:rPr>
              <a:t>Implications for future research</a:t>
            </a:r>
            <a:endParaRPr b="1">
              <a:solidFill>
                <a:srgbClr val="783F04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MELP and its humanistic approach to outsourced labor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Developing countries &amp; ethically questionable working condintions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Gamechanger for modern day research methods?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Drucker’s checklists for personal use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783F04"/>
              </a:buClr>
              <a:buSzPts val="1100"/>
              <a:buChar char="●"/>
            </a:pPr>
            <a:r>
              <a:rPr b="1" lang="zh-TW">
                <a:solidFill>
                  <a:srgbClr val="783F04"/>
                </a:solidFill>
              </a:rPr>
              <a:t>New understandings of the VOC-Opvarenden enhancement project</a:t>
            </a:r>
            <a:endParaRPr b="1">
              <a:solidFill>
                <a:srgbClr val="783F04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The completeness of MELP in the three components of digital humanities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(materials, processing and presentation)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More insight in limitations VOC:</a:t>
            </a:r>
            <a:endParaRPr>
              <a:solidFill>
                <a:schemeClr val="dk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</a:pPr>
            <a:r>
              <a:rPr lang="zh-TW">
                <a:solidFill>
                  <a:schemeClr val="dk1"/>
                </a:solidFill>
              </a:rPr>
              <a:t>Type ll errors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zh-TW">
                <a:solidFill>
                  <a:schemeClr val="dk1"/>
                </a:solidFill>
              </a:rPr>
              <a:t>More attention needed for the VOC as a black page in history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c700422c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7c700422c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c01cd349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c01cd349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1.xml"/><Relationship Id="rId10" Type="http://schemas.openxmlformats.org/officeDocument/2006/relationships/slide" Target="/ppt/slides/slide10.xml"/><Relationship Id="rId13" Type="http://schemas.openxmlformats.org/officeDocument/2006/relationships/slide" Target="/ppt/slides/slide13.xml"/><Relationship Id="rId12" Type="http://schemas.openxmlformats.org/officeDocument/2006/relationships/slide" Target="/ppt/slides/slide12.xm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slide" Target="/ppt/slides/slide3.xml"/><Relationship Id="rId9" Type="http://schemas.openxmlformats.org/officeDocument/2006/relationships/slide" Target="/ppt/slides/slide8.xml"/><Relationship Id="rId14" Type="http://schemas.openxmlformats.org/officeDocument/2006/relationships/slide" Target="/ppt/slides/slide14.xml"/><Relationship Id="rId5" Type="http://schemas.openxmlformats.org/officeDocument/2006/relationships/slide" Target="/ppt/slides/slide4.xml"/><Relationship Id="rId6" Type="http://schemas.openxmlformats.org/officeDocument/2006/relationships/slide" Target="/ppt/slides/slide7.xml"/><Relationship Id="rId7" Type="http://schemas.openxmlformats.org/officeDocument/2006/relationships/slide" Target="/ppt/slides/slide7.xml"/><Relationship Id="rId8" Type="http://schemas.openxmlformats.org/officeDocument/2006/relationships/slide" Target="/ppt/slides/slide7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hyperlink" Target="https://vu.on.worldcat.org/oclc/1236262568" TargetMode="External"/><Relationship Id="rId9" Type="http://schemas.openxmlformats.org/officeDocument/2006/relationships/hyperlink" Target="https://doi.org/10.5334/johd.210" TargetMode="External"/><Relationship Id="rId5" Type="http://schemas.openxmlformats.org/officeDocument/2006/relationships/hyperlink" Target="https://canvas.vu.nl/courses/84841/files/9397350?wrap=1" TargetMode="External"/><Relationship Id="rId6" Type="http://schemas.openxmlformats.org/officeDocument/2006/relationships/hyperlink" Target="https://canvas.vu.nl/courses/84841/files/9397350/download?download_frd=1" TargetMode="External"/><Relationship Id="rId7" Type="http://schemas.openxmlformats.org/officeDocument/2006/relationships/hyperlink" Target="https://digitalhumanities.org/dhq/vol/18/2/000424/000424.html" TargetMode="External"/><Relationship Id="rId8" Type="http://schemas.openxmlformats.org/officeDocument/2006/relationships/hyperlink" Target="http://chat.openai.com/ch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020700" y="1632200"/>
            <a:ext cx="4945800" cy="3016200"/>
          </a:xfrm>
          <a:prstGeom prst="verticalScroll">
            <a:avLst>
              <a:gd fmla="val 12500" name="adj"/>
            </a:avLst>
          </a:prstGeom>
          <a:solidFill>
            <a:srgbClr val="FCE5CD"/>
          </a:solidFill>
          <a:ln cap="flat" cmpd="sng" w="9525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2585138" y="359625"/>
            <a:ext cx="3795900" cy="90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3020">
                <a:solidFill>
                  <a:srgbClr val="660000"/>
                </a:solidFill>
              </a:rPr>
              <a:t>Weekly Presentation</a:t>
            </a:r>
            <a:endParaRPr sz="3020">
              <a:solidFill>
                <a:srgbClr val="66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1820">
                <a:solidFill>
                  <a:srgbClr val="660000"/>
                </a:solidFill>
              </a:rPr>
              <a:t>Team 2: Emily, Feruza, Dunya</a:t>
            </a:r>
            <a:endParaRPr sz="1820">
              <a:solidFill>
                <a:srgbClr val="66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>
              <a:solidFill>
                <a:srgbClr val="66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20">
              <a:solidFill>
                <a:srgbClr val="660000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2533550" y="2108538"/>
            <a:ext cx="3899100" cy="23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zh-TW" sz="1600">
                <a:solidFill>
                  <a:srgbClr val="000000"/>
                </a:solidFill>
              </a:rPr>
              <a:t>Drucker 2021, Ch.2: modeling, tokenizatio</a:t>
            </a:r>
            <a:r>
              <a:rPr lang="zh-TW" sz="1600">
                <a:solidFill>
                  <a:srgbClr val="000000"/>
                </a:solidFill>
              </a:rPr>
              <a:t>n</a:t>
            </a:r>
            <a:r>
              <a:rPr lang="zh-TW" sz="1600">
                <a:solidFill>
                  <a:srgbClr val="000000"/>
                </a:solidFill>
              </a:rPr>
              <a:t>, parameterization, cleaning, ethics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zh-TW" sz="1600">
                <a:solidFill>
                  <a:srgbClr val="000000"/>
                </a:solidFill>
              </a:rPr>
              <a:t>Gitelman 2013: no “raw” data, be transparent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b="1" lang="zh-TW" sz="1600">
                <a:solidFill>
                  <a:srgbClr val="000000"/>
                </a:solidFill>
              </a:rPr>
              <a:t>Havens et al. 2024, MELP: crowdsourcing, TEI, IDs, authority links (Team 2)</a:t>
            </a:r>
            <a:endParaRPr b="1" sz="1600">
              <a:solidFill>
                <a:srgbClr val="000000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39685" y="1607777"/>
            <a:ext cx="11811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solidFill>
                  <a:schemeClr val="dk1"/>
                </a:solidFill>
              </a:rPr>
              <a:t>Readings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Table of Contents</a:t>
            </a:r>
            <a:endParaRPr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788700" y="1017725"/>
            <a:ext cx="8043600" cy="37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summary of the reading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MELF workflow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relevance </a:t>
            </a:r>
            <a:r>
              <a:rPr lang="zh-TW" sz="1829" u="sng">
                <a:solidFill>
                  <a:schemeClr val="dk1"/>
                </a:solidFill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between</a:t>
            </a:r>
            <a:r>
              <a:rPr lang="zh-TW" sz="1829" u="sng">
                <a:solidFill>
                  <a:schemeClr val="dk1"/>
                </a:solidFill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the week’s topic and this article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significant contribution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connection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critique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comparison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reflection</a:t>
            </a:r>
            <a:endParaRPr sz="1829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zh-TW" sz="1829" u="sng">
                <a:solidFill>
                  <a:schemeClr val="dk1"/>
                </a:solidFill>
                <a:hlinkClick action="ppaction://hlinksldjump"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questions for class</a:t>
            </a:r>
            <a:endParaRPr sz="1829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373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Short Summary</a:t>
            </a:r>
            <a:endParaRPr sz="2420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97550" y="946125"/>
            <a:ext cx="8148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rgbClr val="783F04"/>
                </a:solidFill>
                <a:highlight>
                  <a:schemeClr val="lt1"/>
                </a:highlight>
              </a:rPr>
              <a:t>The Maria Edgeworth Letters Project (MELP)</a:t>
            </a:r>
            <a:endParaRPr b="1" sz="2000">
              <a:solidFill>
                <a:srgbClr val="783F04"/>
              </a:solidFill>
              <a:highlight>
                <a:schemeClr val="lt1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transform Maria Edgeworth's physical letters into a searchable, digital database.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zh-TW" sz="2000">
                <a:solidFill>
                  <a:schemeClr val="dk1"/>
                </a:solidFill>
              </a:rPr>
              <a:t>"as-is" approach</a:t>
            </a:r>
            <a:r>
              <a:rPr lang="zh-TW" sz="2000">
                <a:solidFill>
                  <a:schemeClr val="dk1"/>
                </a:solidFill>
              </a:rPr>
              <a:t>: preserving the original form of the letters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operates in three main stages: archiving, transcription, and encoding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zh-TW" sz="2000">
                <a:solidFill>
                  <a:schemeClr val="dk1"/>
                </a:solidFill>
              </a:rPr>
              <a:t>use TEI schema and XML format, and using </a:t>
            </a:r>
            <a:r>
              <a:rPr b="1" lang="zh-TW" sz="2000">
                <a:solidFill>
                  <a:schemeClr val="dk1"/>
                </a:solidFill>
              </a:rPr>
              <a:t>Zooniverse</a:t>
            </a:r>
            <a:r>
              <a:rPr lang="zh-TW" sz="2000">
                <a:solidFill>
                  <a:schemeClr val="dk1"/>
                </a:solidFill>
              </a:rPr>
              <a:t> platform to invite volunteers into transcription stage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igure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Short Summary</a:t>
            </a:r>
            <a:endParaRPr sz="2420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759900" y="1391550"/>
            <a:ext cx="2670300" cy="89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 sz="2000">
                <a:solidFill>
                  <a:srgbClr val="783F04"/>
                </a:solidFill>
              </a:rPr>
              <a:t>transcription</a:t>
            </a:r>
            <a:endParaRPr b="1" sz="1600"/>
          </a:p>
        </p:txBody>
      </p:sp>
      <p:sp>
        <p:nvSpPr>
          <p:cNvPr id="81" name="Google Shape;81;p17"/>
          <p:cNvSpPr/>
          <p:nvPr/>
        </p:nvSpPr>
        <p:spPr>
          <a:xfrm>
            <a:off x="759900" y="3124975"/>
            <a:ext cx="2670300" cy="89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zh-TW" sz="2000">
                <a:solidFill>
                  <a:srgbClr val="783F04"/>
                </a:solidFill>
              </a:rPr>
              <a:t>encoding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690150" y="1391550"/>
            <a:ext cx="51423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volunteers t</a:t>
            </a:r>
            <a:r>
              <a:rPr lang="zh-TW" sz="1900">
                <a:solidFill>
                  <a:schemeClr val="dk1"/>
                </a:solidFill>
              </a:rPr>
              <a:t>ranscribe letters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researchers choose the </a:t>
            </a:r>
            <a:r>
              <a:rPr b="1" lang="zh-TW" sz="1900">
                <a:solidFill>
                  <a:schemeClr val="dk1"/>
                </a:solidFill>
              </a:rPr>
              <a:t>most statistically</a:t>
            </a:r>
            <a:r>
              <a:rPr lang="zh-TW" sz="1900">
                <a:solidFill>
                  <a:schemeClr val="dk1"/>
                </a:solidFill>
              </a:rPr>
              <a:t> common choice 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zh-TW" sz="1900">
                <a:solidFill>
                  <a:schemeClr val="dk1"/>
                </a:solidFill>
              </a:rPr>
              <a:t>"the wisdom of crowds"</a:t>
            </a:r>
            <a:endParaRPr sz="1500"/>
          </a:p>
        </p:txBody>
      </p:sp>
      <p:sp>
        <p:nvSpPr>
          <p:cNvPr id="83" name="Google Shape;83;p17"/>
          <p:cNvSpPr txBox="1"/>
          <p:nvPr/>
        </p:nvSpPr>
        <p:spPr>
          <a:xfrm>
            <a:off x="3690150" y="3124975"/>
            <a:ext cx="5142300" cy="1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created “</a:t>
            </a:r>
            <a:r>
              <a:rPr b="1" lang="zh-TW" sz="1900">
                <a:solidFill>
                  <a:schemeClr val="dk1"/>
                </a:solidFill>
              </a:rPr>
              <a:t>ography</a:t>
            </a:r>
            <a:r>
              <a:rPr lang="zh-TW" sz="1900">
                <a:solidFill>
                  <a:schemeClr val="dk1"/>
                </a:solidFill>
              </a:rPr>
              <a:t>” files that are linked to external, open databases 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zh-TW" sz="1900">
                <a:solidFill>
                  <a:schemeClr val="dk1"/>
                </a:solidFill>
              </a:rPr>
              <a:t>apply the </a:t>
            </a:r>
            <a:r>
              <a:rPr b="1" lang="zh-TW" sz="1900">
                <a:solidFill>
                  <a:schemeClr val="dk1"/>
                </a:solidFill>
              </a:rPr>
              <a:t>TEI tags</a:t>
            </a:r>
            <a:r>
              <a:rPr lang="zh-TW" sz="1900">
                <a:solidFill>
                  <a:schemeClr val="dk1"/>
                </a:solidFill>
              </a:rPr>
              <a:t> to the letter text using the “ography” file information 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1924800" y="2419963"/>
            <a:ext cx="340500" cy="572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/>
          <p:cNvPicPr preferRelativeResize="0"/>
          <p:nvPr/>
        </p:nvPicPr>
        <p:blipFill rotWithShape="1">
          <a:blip r:embed="rId4">
            <a:alphaModFix/>
          </a:blip>
          <a:srcRect b="0" l="0" r="11363" t="9272"/>
          <a:stretch/>
        </p:blipFill>
        <p:spPr>
          <a:xfrm>
            <a:off x="1706750" y="962750"/>
            <a:ext cx="5730601" cy="23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1706825" y="3558100"/>
            <a:ext cx="5730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N</a:t>
            </a:r>
            <a:r>
              <a:rPr lang="zh-TW" sz="1800">
                <a:solidFill>
                  <a:schemeClr val="dk1"/>
                </a:solidFill>
              </a:rPr>
              <a:t>ot just creating a digital archive, they are trying to establish a new model for </a:t>
            </a:r>
            <a:r>
              <a:rPr b="1" lang="zh-TW" sz="1800">
                <a:solidFill>
                  <a:schemeClr val="dk1"/>
                </a:solidFill>
              </a:rPr>
              <a:t>ethical, open, and highly collaborative</a:t>
            </a:r>
            <a:r>
              <a:rPr lang="zh-TW" sz="1800">
                <a:solidFill>
                  <a:schemeClr val="dk1"/>
                </a:solidFill>
              </a:rPr>
              <a:t> digital humanities research.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373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20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The relevance between this week’s topic and this article</a:t>
            </a:r>
            <a:endParaRPr sz="2420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97550" y="946125"/>
            <a:ext cx="814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497550" y="2495225"/>
            <a:ext cx="2412000" cy="952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Data Curation</a:t>
            </a:r>
            <a:endParaRPr b="1" sz="1600"/>
          </a:p>
        </p:txBody>
      </p:sp>
      <p:sp>
        <p:nvSpPr>
          <p:cNvPr id="98" name="Google Shape;98;p19"/>
          <p:cNvSpPr/>
          <p:nvPr/>
        </p:nvSpPr>
        <p:spPr>
          <a:xfrm>
            <a:off x="497550" y="3746025"/>
            <a:ext cx="2412000" cy="952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Digital Archives</a:t>
            </a:r>
            <a:endParaRPr b="1" sz="1600"/>
          </a:p>
        </p:txBody>
      </p:sp>
      <p:sp>
        <p:nvSpPr>
          <p:cNvPr id="99" name="Google Shape;99;p19"/>
          <p:cNvSpPr/>
          <p:nvPr/>
        </p:nvSpPr>
        <p:spPr>
          <a:xfrm>
            <a:off x="497550" y="1244425"/>
            <a:ext cx="2412000" cy="952500"/>
          </a:xfrm>
          <a:prstGeom prst="chevron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/>
              <a:t>Data creation</a:t>
            </a:r>
            <a:endParaRPr b="1" sz="1600"/>
          </a:p>
        </p:txBody>
      </p:sp>
      <p:sp>
        <p:nvSpPr>
          <p:cNvPr id="100" name="Google Shape;100;p19"/>
          <p:cNvSpPr txBox="1"/>
          <p:nvPr/>
        </p:nvSpPr>
        <p:spPr>
          <a:xfrm>
            <a:off x="3183275" y="1253575"/>
            <a:ext cx="5760300" cy="9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unstructured</a:t>
            </a:r>
            <a:r>
              <a:rPr lang="zh-TW" sz="1800">
                <a:solidFill>
                  <a:schemeClr val="dk1"/>
                </a:solidFill>
              </a:rPr>
              <a:t> </a:t>
            </a:r>
            <a:r>
              <a:rPr lang="zh-TW" sz="1800">
                <a:solidFill>
                  <a:schemeClr val="dk1"/>
                </a:solidFill>
              </a:rPr>
              <a:t>handwritten letters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-</a:t>
            </a:r>
            <a:r>
              <a:rPr lang="zh-TW" sz="1800">
                <a:solidFill>
                  <a:schemeClr val="dk1"/>
                </a:solidFill>
              </a:rPr>
              <a:t>&gt;</a:t>
            </a:r>
            <a:r>
              <a:rPr lang="zh-TW" sz="1800">
                <a:solidFill>
                  <a:schemeClr val="dk1"/>
                </a:solidFill>
              </a:rPr>
              <a:t> structured digital data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004050" y="2422025"/>
            <a:ext cx="55743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create tutorial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select the most statistically common choice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upload the result online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3004050" y="3513525"/>
            <a:ext cx="54384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use digital tools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link to external and open databases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align with other institution in coding in some way (ex.delete “gender”) 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/>
          <p:nvPr/>
        </p:nvSpPr>
        <p:spPr>
          <a:xfrm>
            <a:off x="6343725" y="3738050"/>
            <a:ext cx="2576400" cy="1123500"/>
          </a:xfrm>
          <a:prstGeom prst="flowChartAlternateProcess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3192600" y="3243725"/>
            <a:ext cx="2765700" cy="1123500"/>
          </a:xfrm>
          <a:prstGeom prst="flowChartAlternateProcess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132375" y="3738050"/>
            <a:ext cx="2765700" cy="1123500"/>
          </a:xfrm>
          <a:prstGeom prst="flowChartAlternateProcess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6154575" y="1497950"/>
            <a:ext cx="2765700" cy="1123500"/>
          </a:xfrm>
          <a:prstGeom prst="flowChartAlternateProcess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/>
          <p:nvPr/>
        </p:nvSpPr>
        <p:spPr>
          <a:xfrm>
            <a:off x="132375" y="1497950"/>
            <a:ext cx="2765700" cy="1123500"/>
          </a:xfrm>
          <a:prstGeom prst="flowChartAlternateProcess">
            <a:avLst/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342175"/>
            <a:ext cx="8520600" cy="5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909"/>
              <a:buFont typeface="Arial"/>
              <a:buNone/>
            </a:pPr>
            <a:r>
              <a:rPr lang="zh-TW" sz="2688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What MELP contributes to Digital Humanities (DH)</a:t>
            </a:r>
            <a:endParaRPr sz="3688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3919050" y="1055900"/>
            <a:ext cx="1305900" cy="814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783F0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Digital Humanities</a:t>
            </a:r>
            <a:endParaRPr b="1"/>
          </a:p>
        </p:txBody>
      </p:sp>
      <p:sp>
        <p:nvSpPr>
          <p:cNvPr id="114" name="Google Shape;114;p20"/>
          <p:cNvSpPr/>
          <p:nvPr/>
        </p:nvSpPr>
        <p:spPr>
          <a:xfrm>
            <a:off x="492375" y="1224800"/>
            <a:ext cx="2039400" cy="4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Inclusive &amp; Reliable Workflow</a:t>
            </a:r>
            <a:endParaRPr b="1"/>
          </a:p>
        </p:txBody>
      </p:sp>
      <p:sp>
        <p:nvSpPr>
          <p:cNvPr id="115" name="Google Shape;115;p20"/>
          <p:cNvSpPr/>
          <p:nvPr/>
        </p:nvSpPr>
        <p:spPr>
          <a:xfrm>
            <a:off x="452800" y="3430075"/>
            <a:ext cx="2198100" cy="4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Structured &amp; Reusable Texts</a:t>
            </a:r>
            <a:endParaRPr b="1"/>
          </a:p>
        </p:txBody>
      </p:sp>
      <p:sp>
        <p:nvSpPr>
          <p:cNvPr id="116" name="Google Shape;116;p20"/>
          <p:cNvSpPr/>
          <p:nvPr/>
        </p:nvSpPr>
        <p:spPr>
          <a:xfrm>
            <a:off x="3552300" y="2953700"/>
            <a:ext cx="2039400" cy="4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Entity IDs + “address books”</a:t>
            </a:r>
            <a:endParaRPr b="1"/>
          </a:p>
        </p:txBody>
      </p:sp>
      <p:sp>
        <p:nvSpPr>
          <p:cNvPr id="117" name="Google Shape;117;p20"/>
          <p:cNvSpPr/>
          <p:nvPr/>
        </p:nvSpPr>
        <p:spPr>
          <a:xfrm>
            <a:off x="6829125" y="3479588"/>
            <a:ext cx="1663200" cy="476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Linked data out</a:t>
            </a:r>
            <a:endParaRPr b="1"/>
          </a:p>
        </p:txBody>
      </p:sp>
      <p:sp>
        <p:nvSpPr>
          <p:cNvPr id="118" name="Google Shape;118;p20"/>
          <p:cNvSpPr/>
          <p:nvPr/>
        </p:nvSpPr>
        <p:spPr>
          <a:xfrm>
            <a:off x="6502425" y="1224950"/>
            <a:ext cx="1966800" cy="476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Future-proof files</a:t>
            </a:r>
            <a:endParaRPr b="1"/>
          </a:p>
        </p:txBody>
      </p:sp>
      <p:cxnSp>
        <p:nvCxnSpPr>
          <p:cNvPr id="119" name="Google Shape;119;p20"/>
          <p:cNvCxnSpPr>
            <a:stCxn id="113" idx="2"/>
            <a:endCxn id="118" idx="0"/>
          </p:cNvCxnSpPr>
          <p:nvPr/>
        </p:nvCxnSpPr>
        <p:spPr>
          <a:xfrm rot="-5400000">
            <a:off x="5706450" y="90650"/>
            <a:ext cx="645000" cy="2913900"/>
          </a:xfrm>
          <a:prstGeom prst="curvedConnector5">
            <a:avLst>
              <a:gd fmla="val -36919" name="adj1"/>
              <a:gd fmla="val 44328" name="adj2"/>
              <a:gd fmla="val 136942" name="adj3"/>
            </a:avLst>
          </a:prstGeom>
          <a:noFill/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>
            <a:stCxn id="113" idx="2"/>
            <a:endCxn id="114" idx="0"/>
          </p:cNvCxnSpPr>
          <p:nvPr/>
        </p:nvCxnSpPr>
        <p:spPr>
          <a:xfrm flipH="1" rot="5400000">
            <a:off x="2719350" y="17450"/>
            <a:ext cx="645300" cy="3060000"/>
          </a:xfrm>
          <a:prstGeom prst="curvedConnector5">
            <a:avLst>
              <a:gd fmla="val -36901" name="adj1"/>
              <a:gd fmla="val 44006" name="adj2"/>
              <a:gd fmla="val 136901" name="adj3"/>
            </a:avLst>
          </a:prstGeom>
          <a:noFill/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>
            <a:stCxn id="113" idx="2"/>
            <a:endCxn id="115" idx="0"/>
          </p:cNvCxnSpPr>
          <p:nvPr/>
        </p:nvCxnSpPr>
        <p:spPr>
          <a:xfrm rot="5400000">
            <a:off x="2281950" y="1140050"/>
            <a:ext cx="1560000" cy="3020100"/>
          </a:xfrm>
          <a:prstGeom prst="curvedConnector3">
            <a:avLst>
              <a:gd fmla="val 49999" name="adj1"/>
            </a:avLst>
          </a:prstGeom>
          <a:noFill/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>
            <a:stCxn id="113" idx="2"/>
            <a:endCxn id="116" idx="0"/>
          </p:cNvCxnSpPr>
          <p:nvPr/>
        </p:nvCxnSpPr>
        <p:spPr>
          <a:xfrm flipH="1" rot="-5400000">
            <a:off x="4030500" y="2411600"/>
            <a:ext cx="1083600" cy="6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20"/>
          <p:cNvCxnSpPr>
            <a:stCxn id="113" idx="2"/>
            <a:endCxn id="117" idx="0"/>
          </p:cNvCxnSpPr>
          <p:nvPr/>
        </p:nvCxnSpPr>
        <p:spPr>
          <a:xfrm flipH="1" rot="-5400000">
            <a:off x="5311650" y="1130450"/>
            <a:ext cx="1609500" cy="3088800"/>
          </a:xfrm>
          <a:prstGeom prst="curvedConnector3">
            <a:avLst>
              <a:gd fmla="val 50000" name="adj1"/>
            </a:avLst>
          </a:prstGeom>
          <a:noFill/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20"/>
          <p:cNvSpPr txBox="1"/>
          <p:nvPr/>
        </p:nvSpPr>
        <p:spPr>
          <a:xfrm>
            <a:off x="223725" y="1717700"/>
            <a:ext cx="27657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Crowdsourced transcription with staff reconciliation and editor checks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116510" y="3896892"/>
            <a:ext cx="28707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Letters tagged (people/places/dates, page/line breaks) -&gt; machine-readable and human-faithful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6" name="Google Shape;126;p20"/>
          <p:cNvSpPr txBox="1"/>
          <p:nvPr/>
        </p:nvSpPr>
        <p:spPr>
          <a:xfrm>
            <a:off x="3308223" y="3370385"/>
            <a:ext cx="26427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Stable IDs for People/Places/Works; variants recorded, not erased (no name loss)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6561675" y="4005375"/>
            <a:ext cx="2198100" cy="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VIAF (people), GeoNames (places), Wikidata (works) -&gt; cross-project reuse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6390700" y="1734050"/>
            <a:ext cx="23325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Plain text/XML core; data exportable for long-term use (not locked into one system)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260875"/>
            <a:ext cx="8520600" cy="5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2400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What the other readings contribute</a:t>
            </a:r>
            <a:endParaRPr sz="2600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4" name="Google Shape;134;p21"/>
          <p:cNvSpPr/>
          <p:nvPr/>
        </p:nvSpPr>
        <p:spPr>
          <a:xfrm>
            <a:off x="489250" y="1025375"/>
            <a:ext cx="3654000" cy="362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4572000" y="1025375"/>
            <a:ext cx="3654000" cy="362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817175" y="1876560"/>
            <a:ext cx="2873100" cy="104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Thesis: </a:t>
            </a:r>
            <a:r>
              <a:rPr lang="zh-TW"/>
              <a:t>Data is made through choices and contexts (no “raw” data)</a:t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817175" y="3147074"/>
            <a:ext cx="2873100" cy="102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Impact: </a:t>
            </a:r>
            <a:r>
              <a:rPr lang="zh-TW"/>
              <a:t>forces t</a:t>
            </a:r>
            <a:r>
              <a:rPr lang="zh-TW"/>
              <a:t>ransparency of selection, modeling and “cleaning”; critiques myths of objectivity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4962450" y="1823528"/>
            <a:ext cx="2873100" cy="1047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Field manual: </a:t>
            </a:r>
            <a:r>
              <a:rPr lang="zh-TW"/>
              <a:t>How to model humanities data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Methods: </a:t>
            </a:r>
            <a:r>
              <a:rPr lang="zh-TW"/>
              <a:t>Tokenization, parameterization, cleaning docs</a:t>
            </a:r>
            <a:endParaRPr/>
          </a:p>
        </p:txBody>
      </p:sp>
      <p:sp>
        <p:nvSpPr>
          <p:cNvPr id="139" name="Google Shape;139;p21"/>
          <p:cNvSpPr/>
          <p:nvPr/>
        </p:nvSpPr>
        <p:spPr>
          <a:xfrm>
            <a:off x="4962450" y="3095352"/>
            <a:ext cx="2873100" cy="1021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381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Standards</a:t>
            </a:r>
            <a:r>
              <a:rPr lang="zh-TW"/>
              <a:t>: Unique IDs, vocabularies, data formats, ethics &amp; privacy checklists</a:t>
            </a:r>
            <a:endParaRPr/>
          </a:p>
        </p:txBody>
      </p:sp>
      <p:sp>
        <p:nvSpPr>
          <p:cNvPr id="140" name="Google Shape;140;p21"/>
          <p:cNvSpPr txBox="1"/>
          <p:nvPr/>
        </p:nvSpPr>
        <p:spPr>
          <a:xfrm>
            <a:off x="817125" y="1197100"/>
            <a:ext cx="28731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</a:rPr>
              <a:t>“Raw Data” Is an Oxymoron </a:t>
            </a:r>
            <a:r>
              <a:rPr lang="zh-TW">
                <a:solidFill>
                  <a:schemeClr val="dk2"/>
                </a:solidFill>
              </a:rPr>
              <a:t>(Gitelman)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962450" y="1242700"/>
            <a:ext cx="28731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chemeClr val="dk2"/>
                </a:solidFill>
              </a:rPr>
              <a:t>The DH Coursebook, Ch 2</a:t>
            </a:r>
            <a:r>
              <a:rPr b="1" lang="zh-TW">
                <a:solidFill>
                  <a:schemeClr val="dk2"/>
                </a:solidFill>
              </a:rPr>
              <a:t> </a:t>
            </a:r>
            <a:r>
              <a:rPr lang="zh-TW">
                <a:solidFill>
                  <a:schemeClr val="dk2"/>
                </a:solidFill>
              </a:rPr>
              <a:t>(Drucker)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559775" y="1151125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Ethics &amp; Privacy</a:t>
            </a:r>
            <a:endParaRPr sz="1600"/>
          </a:p>
        </p:txBody>
      </p:sp>
      <p:sp>
        <p:nvSpPr>
          <p:cNvPr id="147" name="Google Shape;147;p22"/>
          <p:cNvSpPr/>
          <p:nvPr/>
        </p:nvSpPr>
        <p:spPr>
          <a:xfrm>
            <a:off x="559775" y="2028500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Labor &amp; Credit</a:t>
            </a:r>
            <a:endParaRPr sz="1600"/>
          </a:p>
        </p:txBody>
      </p:sp>
      <p:sp>
        <p:nvSpPr>
          <p:cNvPr id="148" name="Google Shape;148;p22"/>
          <p:cNvSpPr/>
          <p:nvPr/>
        </p:nvSpPr>
        <p:spPr>
          <a:xfrm>
            <a:off x="559775" y="2901000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Standards vs specificity</a:t>
            </a:r>
            <a:endParaRPr sz="1600"/>
          </a:p>
        </p:txBody>
      </p:sp>
      <p:sp>
        <p:nvSpPr>
          <p:cNvPr id="149" name="Google Shape;149;p22"/>
          <p:cNvSpPr/>
          <p:nvPr/>
        </p:nvSpPr>
        <p:spPr>
          <a:xfrm>
            <a:off x="559775" y="3773500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Sustainability</a:t>
            </a:r>
            <a:endParaRPr sz="1600"/>
          </a:p>
        </p:txBody>
      </p:sp>
      <p:sp>
        <p:nvSpPr>
          <p:cNvPr id="150" name="Google Shape;150;p22"/>
          <p:cNvSpPr/>
          <p:nvPr/>
        </p:nvSpPr>
        <p:spPr>
          <a:xfrm>
            <a:off x="3504825" y="1351515"/>
            <a:ext cx="2150700" cy="291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E06666"/>
              </a:gs>
              <a:gs pos="100000">
                <a:srgbClr val="6AA84F"/>
              </a:gs>
              <a:gs pos="100000">
                <a:srgbClr val="73737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2"/>
          <p:cNvSpPr/>
          <p:nvPr/>
        </p:nvSpPr>
        <p:spPr>
          <a:xfrm>
            <a:off x="3526488" y="2228890"/>
            <a:ext cx="2150700" cy="291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E06666"/>
              </a:gs>
              <a:gs pos="100000">
                <a:srgbClr val="6AA84F"/>
              </a:gs>
              <a:gs pos="100000">
                <a:srgbClr val="73737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/>
          <p:nvPr/>
        </p:nvSpPr>
        <p:spPr>
          <a:xfrm>
            <a:off x="3526488" y="3066452"/>
            <a:ext cx="2150700" cy="291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E06666"/>
              </a:gs>
              <a:gs pos="100000">
                <a:srgbClr val="6AA84F"/>
              </a:gs>
              <a:gs pos="100000">
                <a:srgbClr val="73737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2"/>
          <p:cNvSpPr/>
          <p:nvPr/>
        </p:nvSpPr>
        <p:spPr>
          <a:xfrm>
            <a:off x="3488475" y="3904002"/>
            <a:ext cx="2150700" cy="2919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E06666"/>
              </a:gs>
              <a:gs pos="100000">
                <a:srgbClr val="6AA84F"/>
              </a:gs>
              <a:gs pos="100000">
                <a:srgbClr val="73737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619625" y="522350"/>
            <a:ext cx="24921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chemeClr val="dk1"/>
                </a:solidFill>
              </a:rPr>
              <a:t>Topics of concern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6092100" y="522350"/>
            <a:ext cx="2611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100">
                <a:solidFill>
                  <a:schemeClr val="dk1"/>
                </a:solidFill>
              </a:rPr>
              <a:t>Available solutions</a:t>
            </a:r>
            <a:endParaRPr b="1" sz="2100">
              <a:solidFill>
                <a:schemeClr val="dk1"/>
              </a:solidFill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6092100" y="1151125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Consent, provenance, careful reuse</a:t>
            </a:r>
            <a:endParaRPr sz="1600"/>
          </a:p>
        </p:txBody>
      </p:sp>
      <p:sp>
        <p:nvSpPr>
          <p:cNvPr id="157" name="Google Shape;157;p22"/>
          <p:cNvSpPr/>
          <p:nvPr/>
        </p:nvSpPr>
        <p:spPr>
          <a:xfrm>
            <a:off x="6092100" y="2028500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Acknowledge authors</a:t>
            </a:r>
            <a:endParaRPr sz="1600"/>
          </a:p>
        </p:txBody>
      </p:sp>
      <p:sp>
        <p:nvSpPr>
          <p:cNvPr id="158" name="Google Shape;158;p22"/>
          <p:cNvSpPr/>
          <p:nvPr/>
        </p:nvSpPr>
        <p:spPr>
          <a:xfrm>
            <a:off x="6092100" y="2901000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Shared IDs without cultural erasure</a:t>
            </a:r>
            <a:endParaRPr sz="1600"/>
          </a:p>
        </p:txBody>
      </p:sp>
      <p:sp>
        <p:nvSpPr>
          <p:cNvPr id="159" name="Google Shape;159;p22"/>
          <p:cNvSpPr/>
          <p:nvPr/>
        </p:nvSpPr>
        <p:spPr>
          <a:xfrm>
            <a:off x="6092100" y="3773500"/>
            <a:ext cx="2611800" cy="69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Durable formats, maintenance plans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865450" y="960250"/>
            <a:ext cx="3594900" cy="172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3"/>
          <p:cNvSpPr/>
          <p:nvPr/>
        </p:nvSpPr>
        <p:spPr>
          <a:xfrm>
            <a:off x="865450" y="2814800"/>
            <a:ext cx="3664200" cy="172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4614350" y="960250"/>
            <a:ext cx="3664200" cy="172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/>
          <p:nvPr/>
        </p:nvSpPr>
        <p:spPr>
          <a:xfrm>
            <a:off x="4683650" y="2814800"/>
            <a:ext cx="3594900" cy="172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762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3"/>
          <p:cNvSpPr txBox="1"/>
          <p:nvPr>
            <p:ph type="title"/>
          </p:nvPr>
        </p:nvSpPr>
        <p:spPr>
          <a:xfrm>
            <a:off x="311700" y="40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420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Critique &amp; Practical Mitigations</a:t>
            </a:r>
            <a:endParaRPr sz="2420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3692225" y="2070650"/>
            <a:ext cx="1549800" cy="13557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Critique &amp; Practical Mitigations</a:t>
            </a:r>
            <a:endParaRPr/>
          </a:p>
        </p:txBody>
      </p:sp>
      <p:sp>
        <p:nvSpPr>
          <p:cNvPr id="170" name="Google Shape;170;p23"/>
          <p:cNvSpPr txBox="1"/>
          <p:nvPr/>
        </p:nvSpPr>
        <p:spPr>
          <a:xfrm>
            <a:off x="918825" y="1085638"/>
            <a:ext cx="31341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Strengths: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Transparent pipeline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Durable core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Linked-data friendly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3"/>
          <p:cNvSpPr txBox="1"/>
          <p:nvPr/>
        </p:nvSpPr>
        <p:spPr>
          <a:xfrm>
            <a:off x="4858250" y="976775"/>
            <a:ext cx="3134100" cy="13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Risks: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Varying s</a:t>
            </a:r>
            <a:r>
              <a:rPr lang="zh-TW" sz="1800">
                <a:solidFill>
                  <a:schemeClr val="dk2"/>
                </a:solidFill>
              </a:rPr>
              <a:t>peed/accuracy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Tagging needs training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Funding-dependent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Maintenance-dependent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865450" y="2865650"/>
            <a:ext cx="3594900" cy="16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Method fit: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Natural match with letters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Scalable crowdsourcing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Evolvable schema and spellings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" name="Google Shape;173;p23"/>
          <p:cNvSpPr txBox="1"/>
          <p:nvPr/>
        </p:nvSpPr>
        <p:spPr>
          <a:xfrm>
            <a:off x="4683650" y="2948600"/>
            <a:ext cx="3594900" cy="15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Mitigations: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Hand-written text recognition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Templates + short trainings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Recurring maintenance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zh-TW" sz="1800">
                <a:solidFill>
                  <a:schemeClr val="dk2"/>
                </a:solidFill>
              </a:rPr>
              <a:t>Automated checks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23"/>
          <p:cNvSpPr/>
          <p:nvPr/>
        </p:nvSpPr>
        <p:spPr>
          <a:xfrm>
            <a:off x="3805750" y="2070650"/>
            <a:ext cx="1457700" cy="12816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3"/>
          <p:cNvSpPr/>
          <p:nvPr/>
        </p:nvSpPr>
        <p:spPr>
          <a:xfrm rot="5737760">
            <a:off x="3804293" y="1989226"/>
            <a:ext cx="1599514" cy="1317630"/>
          </a:xfrm>
          <a:prstGeom prst="arc">
            <a:avLst>
              <a:gd fmla="val 16200000" name="adj1"/>
              <a:gd fmla="val 21538901" name="adj2"/>
            </a:avLst>
          </a:prstGeom>
          <a:noFill/>
          <a:ln cap="flat" cmpd="sng" w="762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3"/>
          <p:cNvSpPr/>
          <p:nvPr/>
        </p:nvSpPr>
        <p:spPr>
          <a:xfrm rot="-10640083">
            <a:off x="3693358" y="2038583"/>
            <a:ext cx="1754798" cy="1407934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76200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 rot="-5112599">
            <a:off x="3639064" y="2098846"/>
            <a:ext cx="1623871" cy="1549554"/>
          </a:xfrm>
          <a:prstGeom prst="arc">
            <a:avLst>
              <a:gd fmla="val 16569109" name="adj1"/>
              <a:gd fmla="val 80752" name="adj2"/>
            </a:avLst>
          </a:prstGeom>
          <a:noFill/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Comparison of the Readings</a:t>
            </a:r>
            <a:endParaRPr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652375" y="1241875"/>
            <a:ext cx="3135000" cy="329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652275" y="1487475"/>
            <a:ext cx="3135000" cy="256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 sz="1600">
                <a:solidFill>
                  <a:srgbClr val="783F04"/>
                </a:solidFill>
              </a:rPr>
              <a:t>Comparing the readings</a:t>
            </a:r>
            <a:endParaRPr b="1" sz="1600">
              <a:solidFill>
                <a:srgbClr val="783F04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B45F06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Drucker (2021) provides practical questions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Compare data models from MELP and the VOC-Opvarenden enhancement project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85" name="Google Shape;185;p24"/>
          <p:cNvSpPr/>
          <p:nvPr/>
        </p:nvSpPr>
        <p:spPr>
          <a:xfrm>
            <a:off x="5356725" y="1241875"/>
            <a:ext cx="3135000" cy="329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7620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4"/>
          <p:cNvSpPr txBox="1"/>
          <p:nvPr/>
        </p:nvSpPr>
        <p:spPr>
          <a:xfrm>
            <a:off x="5270500" y="1531875"/>
            <a:ext cx="3221100" cy="24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600">
                <a:solidFill>
                  <a:srgbClr val="783F04"/>
                </a:solidFill>
              </a:rPr>
              <a:t>Similarities &amp; Differences</a:t>
            </a:r>
            <a:endParaRPr b="1" sz="1600">
              <a:solidFill>
                <a:srgbClr val="783F04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B45F06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Digitizing historical artifacts: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→ Edgeworth: 1768-1859,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→ muster records: 1633-1794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Struggles in completeness: 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→ MELP &gt; VOC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Transparency:</a:t>
            </a:r>
            <a:endParaRPr sz="1600">
              <a:solidFill>
                <a:srgbClr val="B45F06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E5CD"/>
              </a:buClr>
              <a:buSzPts val="1600"/>
              <a:buChar char="●"/>
            </a:pPr>
            <a:r>
              <a:rPr lang="zh-TW" sz="1600">
                <a:solidFill>
                  <a:srgbClr val="B45F06"/>
                </a:solidFill>
              </a:rPr>
              <a:t>→  MELP &gt; VOC</a:t>
            </a:r>
            <a:endParaRPr sz="1600">
              <a:solidFill>
                <a:srgbClr val="B45F06"/>
              </a:solidFill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4127250" y="3175300"/>
            <a:ext cx="889500" cy="266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4"/>
          <p:cNvSpPr/>
          <p:nvPr/>
        </p:nvSpPr>
        <p:spPr>
          <a:xfrm>
            <a:off x="4127238" y="2635275"/>
            <a:ext cx="889500" cy="266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4"/>
          <p:cNvSpPr/>
          <p:nvPr/>
        </p:nvSpPr>
        <p:spPr>
          <a:xfrm>
            <a:off x="4127250" y="2095250"/>
            <a:ext cx="889500" cy="266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F4CCCC"/>
          </a:solidFill>
          <a:ln cap="flat" cmpd="sng" w="381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>
            <p:ph type="title"/>
          </p:nvPr>
        </p:nvSpPr>
        <p:spPr>
          <a:xfrm>
            <a:off x="311700" y="349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620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Reflection of the implications</a:t>
            </a:r>
            <a:endParaRPr sz="2620"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179525" y="887888"/>
            <a:ext cx="4224600" cy="3553200"/>
          </a:xfrm>
          <a:prstGeom prst="horizontalScroll">
            <a:avLst>
              <a:gd fmla="val 12500" name="adj"/>
            </a:avLst>
          </a:prstGeom>
          <a:solidFill>
            <a:srgbClr val="FCE5CD"/>
          </a:solidFill>
          <a:ln cap="flat" cmpd="sng" w="762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/>
          <p:nvPr/>
        </p:nvSpPr>
        <p:spPr>
          <a:xfrm>
            <a:off x="4699325" y="1034417"/>
            <a:ext cx="4293600" cy="3889200"/>
          </a:xfrm>
          <a:prstGeom prst="horizontalScroll">
            <a:avLst>
              <a:gd fmla="val 12500" name="adj"/>
            </a:avLst>
          </a:prstGeom>
          <a:solidFill>
            <a:srgbClr val="FFF2CC"/>
          </a:solidFill>
          <a:ln cap="flat" cmpd="sng" w="76200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695737" y="1367750"/>
            <a:ext cx="37206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Implications for future research</a:t>
            </a:r>
            <a:endParaRPr b="1" sz="18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MELP and its humanistic approach to outsourced labor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Developing countries &amp; ethically questionable working condintions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Gamechanger for modern day research methods?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zh-TW" sz="1500">
                <a:solidFill>
                  <a:schemeClr val="dk1"/>
                </a:solidFill>
              </a:rPr>
              <a:t>Drucker’s checklists for personal use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5272325" y="1584772"/>
            <a:ext cx="37206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700">
                <a:solidFill>
                  <a:schemeClr val="dk1"/>
                </a:solidFill>
              </a:rPr>
              <a:t>New understandings of the VOC-Opvarenden project</a:t>
            </a:r>
            <a:endParaRPr b="1" sz="17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The completeness of MELP in the three components of digital humanities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→ (materials, processing and presentation)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More insight in limitations VOC: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Type ll errors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More attention needed for the VOC as a black page in history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6"/>
          <p:cNvSpPr/>
          <p:nvPr/>
        </p:nvSpPr>
        <p:spPr>
          <a:xfrm>
            <a:off x="3742200" y="2281600"/>
            <a:ext cx="1901400" cy="681900"/>
          </a:xfrm>
          <a:prstGeom prst="flowChartAlternateProcess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3972900" y="2399700"/>
            <a:ext cx="1440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2000">
                <a:solidFill>
                  <a:schemeClr val="dk1"/>
                </a:solidFill>
              </a:rPr>
              <a:t>Questions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205" name="Google Shape;205;p26"/>
          <p:cNvSpPr/>
          <p:nvPr/>
        </p:nvSpPr>
        <p:spPr>
          <a:xfrm>
            <a:off x="6229000" y="922500"/>
            <a:ext cx="2143200" cy="1584300"/>
          </a:xfrm>
          <a:prstGeom prst="wedgeRoundRectCallout">
            <a:avLst>
              <a:gd fmla="val -74395" name="adj1"/>
              <a:gd fmla="val 46270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6"/>
          <p:cNvSpPr/>
          <p:nvPr/>
        </p:nvSpPr>
        <p:spPr>
          <a:xfrm>
            <a:off x="6308375" y="3059175"/>
            <a:ext cx="2143200" cy="1584300"/>
          </a:xfrm>
          <a:prstGeom prst="wedgeRoundRectCallout">
            <a:avLst>
              <a:gd fmla="val -79949" name="adj1"/>
              <a:gd fmla="val -56328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6"/>
          <p:cNvSpPr/>
          <p:nvPr/>
        </p:nvSpPr>
        <p:spPr>
          <a:xfrm>
            <a:off x="3500400" y="3669175"/>
            <a:ext cx="2143200" cy="1212300"/>
          </a:xfrm>
          <a:prstGeom prst="wedgeRoundRectCallout">
            <a:avLst>
              <a:gd fmla="val -2634" name="adj1"/>
              <a:gd fmla="val -103401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3450750" y="472625"/>
            <a:ext cx="2143200" cy="1001700"/>
          </a:xfrm>
          <a:prstGeom prst="wedgeRoundRectCallout">
            <a:avLst>
              <a:gd fmla="val 1535" name="adj1"/>
              <a:gd fmla="val 122929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6"/>
          <p:cNvSpPr/>
          <p:nvPr/>
        </p:nvSpPr>
        <p:spPr>
          <a:xfrm>
            <a:off x="574325" y="3045946"/>
            <a:ext cx="2143200" cy="1646100"/>
          </a:xfrm>
          <a:prstGeom prst="wedgeRoundRectCallout">
            <a:avLst>
              <a:gd fmla="val 93772" name="adj1"/>
              <a:gd fmla="val -60912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6"/>
          <p:cNvSpPr/>
          <p:nvPr/>
        </p:nvSpPr>
        <p:spPr>
          <a:xfrm>
            <a:off x="877700" y="879400"/>
            <a:ext cx="2143200" cy="1402200"/>
          </a:xfrm>
          <a:prstGeom prst="wedgeRoundRectCallout">
            <a:avLst>
              <a:gd fmla="val 80852" name="adj1"/>
              <a:gd fmla="val 57736" name="adj2"/>
              <a:gd fmla="val 0" name="adj3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6"/>
          <p:cNvSpPr txBox="1"/>
          <p:nvPr/>
        </p:nvSpPr>
        <p:spPr>
          <a:xfrm>
            <a:off x="3622800" y="662800"/>
            <a:ext cx="1799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“Is the essay on the MELP project too good to be true?”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2" name="Google Shape;212;p26"/>
          <p:cNvSpPr/>
          <p:nvPr/>
        </p:nvSpPr>
        <p:spPr>
          <a:xfrm>
            <a:off x="3869450" y="318700"/>
            <a:ext cx="1287000" cy="344100"/>
          </a:xfrm>
          <a:prstGeom prst="flowChartAlternateProcess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/>
        </p:nvSpPr>
        <p:spPr>
          <a:xfrm>
            <a:off x="4112250" y="252550"/>
            <a:ext cx="8202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MELP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4" name="Google Shape;214;p26"/>
          <p:cNvSpPr txBox="1"/>
          <p:nvPr/>
        </p:nvSpPr>
        <p:spPr>
          <a:xfrm>
            <a:off x="3621300" y="3876625"/>
            <a:ext cx="1901400" cy="8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How is the VOC’s violent past considered to keep the project fair and balanced?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3896750" y="3567575"/>
            <a:ext cx="1216200" cy="344100"/>
          </a:xfrm>
          <a:prstGeom prst="flowChartAlternateProcess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6"/>
          <p:cNvSpPr txBox="1"/>
          <p:nvPr/>
        </p:nvSpPr>
        <p:spPr>
          <a:xfrm>
            <a:off x="4036700" y="3514650"/>
            <a:ext cx="10764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History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1135700" y="705150"/>
            <a:ext cx="1680000" cy="344100"/>
          </a:xfrm>
          <a:prstGeom prst="flowChartAlternateProcess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 txBox="1"/>
          <p:nvPr/>
        </p:nvSpPr>
        <p:spPr>
          <a:xfrm>
            <a:off x="1211750" y="632100"/>
            <a:ext cx="1680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Tokenization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19" name="Google Shape;219;p26"/>
          <p:cNvSpPr txBox="1"/>
          <p:nvPr/>
        </p:nvSpPr>
        <p:spPr>
          <a:xfrm>
            <a:off x="930500" y="1130200"/>
            <a:ext cx="20904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If ‘Washington’ might be a person or a place, how would you tag it in MELP when you’re unsure?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6460600" y="705150"/>
            <a:ext cx="1680000" cy="344100"/>
          </a:xfrm>
          <a:prstGeom prst="flowChartAlternateProcess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(</a:t>
            </a:r>
            <a:r>
              <a:rPr b="1" lang="zh-TW"/>
              <a:t>Un)Structured</a:t>
            </a:r>
            <a:endParaRPr b="1"/>
          </a:p>
        </p:txBody>
      </p:sp>
      <p:sp>
        <p:nvSpPr>
          <p:cNvPr id="221" name="Google Shape;221;p26"/>
          <p:cNvSpPr txBox="1"/>
          <p:nvPr/>
        </p:nvSpPr>
        <p:spPr>
          <a:xfrm>
            <a:off x="6364900" y="1049250"/>
            <a:ext cx="1901400" cy="14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In Drucker’s terms, what did MELP actually structure and what did they leave unstructured on purpose? Does that feel like the right mix?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2" name="Google Shape;222;p26"/>
          <p:cNvSpPr/>
          <p:nvPr/>
        </p:nvSpPr>
        <p:spPr>
          <a:xfrm>
            <a:off x="6539975" y="2919204"/>
            <a:ext cx="1680000" cy="344100"/>
          </a:xfrm>
          <a:prstGeom prst="flowChartAlternateProcess">
            <a:avLst/>
          </a:prstGeom>
          <a:solidFill>
            <a:srgbClr val="D5A6B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Clean vs Messy</a:t>
            </a:r>
            <a:r>
              <a:rPr lang="zh-TW"/>
              <a:t> </a:t>
            </a: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6426475" y="3245000"/>
            <a:ext cx="1958100" cy="12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Where do you draw the line between cleaning and keeping the mess (weird spellings, cross-outs)? Pick one: names / dates / places.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24" name="Google Shape;224;p26"/>
          <p:cNvSpPr/>
          <p:nvPr/>
        </p:nvSpPr>
        <p:spPr>
          <a:xfrm>
            <a:off x="805925" y="2884125"/>
            <a:ext cx="1680000" cy="344100"/>
          </a:xfrm>
          <a:prstGeom prst="flowChartAlternateProcess">
            <a:avLst/>
          </a:prstGeom>
          <a:solidFill>
            <a:srgbClr val="B6D7A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805925" y="2840475"/>
            <a:ext cx="16800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800">
                <a:solidFill>
                  <a:schemeClr val="dk1"/>
                </a:solidFill>
              </a:rPr>
              <a:t>Sustainability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627125" y="3228225"/>
            <a:ext cx="2090400" cy="14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If funding stopped next year, which three things do we have to keep so the dataset still works, TEI/XML export, data dictionary, cleaning log, DOIs, code, or something else?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311700" y="267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783F04"/>
                </a:solidFill>
                <a:latin typeface="Impact"/>
                <a:ea typeface="Impact"/>
                <a:cs typeface="Impact"/>
                <a:sym typeface="Impact"/>
              </a:rPr>
              <a:t>References</a:t>
            </a:r>
            <a:endParaRPr>
              <a:solidFill>
                <a:srgbClr val="783F04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311700" y="839850"/>
            <a:ext cx="8520600" cy="42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Drucker, Johanna. </a:t>
            </a:r>
            <a:r>
              <a:rPr i="1" lang="zh-TW" sz="1300">
                <a:solidFill>
                  <a:schemeClr val="dk1"/>
                </a:solidFill>
              </a:rPr>
              <a:t>The Digital Humanities Coursebook: An Introduction to Digital Methods for Research and</a:t>
            </a:r>
            <a:endParaRPr i="1"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i="1" lang="zh-TW" sz="1300">
                <a:solidFill>
                  <a:schemeClr val="dk1"/>
                </a:solidFill>
              </a:rPr>
              <a:t>Scholarship</a:t>
            </a:r>
            <a:r>
              <a:rPr lang="zh-TW" sz="1300">
                <a:solidFill>
                  <a:schemeClr val="dk1"/>
                </a:solidFill>
              </a:rPr>
              <a:t>. Routledge, 2021. </a:t>
            </a:r>
            <a:r>
              <a:rPr lang="zh-TW" sz="1300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https://vu.on.worldcat.org/oclc/1236262568</a:t>
            </a:r>
            <a:endParaRPr sz="1300"/>
          </a:p>
          <a:p>
            <a:pPr indent="-31115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Gitelman L (ed) (2013) "Raw data" is an oxymoron. Infrastructures series, The MIT Press, Cambridge, Massachusetts ; London, England </a:t>
            </a:r>
            <a:r>
              <a:rPr lang="zh-TW" sz="1300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Raw Data Is an Oxymoron by Lisa Gitelman (z-lib.org).pdf </a:t>
            </a:r>
            <a:endParaRPr sz="1300" u="sng">
              <a:solidFill>
                <a:schemeClr val="dk1"/>
              </a:solidFill>
              <a:hlinkClick r:id="rId6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Havens</a:t>
            </a:r>
            <a:r>
              <a:rPr lang="zh-TW" sz="1300">
                <a:solidFill>
                  <a:schemeClr val="dk1"/>
                </a:solidFill>
              </a:rPr>
              <a:t>,</a:t>
            </a:r>
            <a:r>
              <a:rPr lang="zh-TW" sz="1300">
                <a:solidFill>
                  <a:schemeClr val="dk1"/>
                </a:solidFill>
              </a:rPr>
              <a:t> H</a:t>
            </a:r>
            <a:r>
              <a:rPr lang="zh-TW" sz="1300">
                <a:solidFill>
                  <a:schemeClr val="dk1"/>
                </a:solidFill>
              </a:rPr>
              <a:t>ilary</a:t>
            </a:r>
            <a:r>
              <a:rPr lang="zh-TW" sz="1300">
                <a:solidFill>
                  <a:schemeClr val="dk1"/>
                </a:solidFill>
              </a:rPr>
              <a:t>, Eliza A</a:t>
            </a:r>
            <a:r>
              <a:rPr lang="zh-TW" sz="1300">
                <a:solidFill>
                  <a:schemeClr val="dk1"/>
                </a:solidFill>
              </a:rPr>
              <a:t>lexander</a:t>
            </a:r>
            <a:r>
              <a:rPr lang="zh-TW" sz="1300">
                <a:solidFill>
                  <a:schemeClr val="dk1"/>
                </a:solidFill>
              </a:rPr>
              <a:t> Wilcox, Meredith L. Hale, and Jamie Kramer. ‘From Archive to Database:</a:t>
            </a:r>
            <a:endParaRPr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Using Crowdsourcing, TEI, and Collaborative Labor to Construct the Maria Edgeworth Letters Project’. </a:t>
            </a:r>
            <a:r>
              <a:rPr i="1" lang="zh-TW" sz="1300">
                <a:solidFill>
                  <a:schemeClr val="dk1"/>
                </a:solidFill>
              </a:rPr>
              <a:t>Digital Humanities Quarterly</a:t>
            </a:r>
            <a:r>
              <a:rPr lang="zh-TW" sz="1300">
                <a:solidFill>
                  <a:schemeClr val="dk1"/>
                </a:solidFill>
              </a:rPr>
              <a:t> 18,</a:t>
            </a:r>
            <a:endParaRPr sz="1300">
              <a:solidFill>
                <a:schemeClr val="dk1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1"/>
                </a:solidFill>
              </a:rPr>
              <a:t>no. 2 (2024). </a:t>
            </a:r>
            <a:r>
              <a:rPr lang="zh-TW" sz="1300" u="sng">
                <a:solidFill>
                  <a:schemeClr val="dk1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https://digitalhumanities.org/dhq/vol/18/2/000424/000424.html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OpenAI. (2023). </a:t>
            </a:r>
            <a:r>
              <a:rPr i="1" lang="zh-TW" sz="1300">
                <a:solidFill>
                  <a:schemeClr val="dk1"/>
                </a:solidFill>
              </a:rPr>
              <a:t>ChatGPT </a:t>
            </a:r>
            <a:r>
              <a:rPr lang="zh-TW" sz="1300">
                <a:solidFill>
                  <a:schemeClr val="dk1"/>
                </a:solidFill>
              </a:rPr>
              <a:t>(13 Feb. versie) [Large language model]. </a:t>
            </a:r>
            <a:r>
              <a:rPr lang="zh-TW" sz="1300" u="sng">
                <a:solidFill>
                  <a:schemeClr val="dk1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chat.openai.com/chat</a:t>
            </a:r>
            <a:r>
              <a:rPr lang="zh-TW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Petram, L., Koolen, M., Wevers, M., &amp; Van Lottum, J. (2024). Charting Lives and Careers: Enriched Data About the Dutch East India Company’s Eighteenth-Century European Workforce. </a:t>
            </a:r>
            <a:r>
              <a:rPr i="1" lang="zh-TW" sz="1300">
                <a:solidFill>
                  <a:schemeClr val="dk1"/>
                </a:solidFill>
              </a:rPr>
              <a:t>Journal Of Open Humanities Data</a:t>
            </a:r>
            <a:r>
              <a:rPr lang="zh-TW" sz="1300">
                <a:solidFill>
                  <a:schemeClr val="dk1"/>
                </a:solidFill>
              </a:rPr>
              <a:t>, </a:t>
            </a:r>
            <a:r>
              <a:rPr i="1" lang="zh-TW" sz="1300">
                <a:solidFill>
                  <a:schemeClr val="dk1"/>
                </a:solidFill>
              </a:rPr>
              <a:t>10</a:t>
            </a:r>
            <a:r>
              <a:rPr lang="zh-TW" sz="1300">
                <a:solidFill>
                  <a:schemeClr val="dk1"/>
                </a:solidFill>
              </a:rPr>
              <a:t>. </a:t>
            </a:r>
            <a:r>
              <a:rPr lang="zh-TW" sz="1300" u="sng">
                <a:solidFill>
                  <a:schemeClr val="dk1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https://doi.org/10.5334/johd.210</a:t>
            </a:r>
            <a:r>
              <a:rPr lang="zh-TW" sz="1300">
                <a:solidFill>
                  <a:schemeClr val="dk1"/>
                </a:solidFill>
              </a:rPr>
              <a:t>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